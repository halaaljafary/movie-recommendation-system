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959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6468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8977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1486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3995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46504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79013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11522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4031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76540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9049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1559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74068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6577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9086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1595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04104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36613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69122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1631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34140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66649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99159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31668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64177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96686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29195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736592"/>
            <a:ext cx="914400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59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6468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8977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1486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13995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46504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79013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11522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4031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76540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09049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41559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74068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06577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39086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71595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04104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36613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69122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1631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34140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66649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99159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31668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64177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96686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29195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1664208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MOVIE RECOMMENDATION</a:t>
            </a:r>
            <a:endParaRPr lang="en-US" sz="3800" dirty="0"/>
          </a:p>
        </p:txBody>
      </p:sp>
      <p:sp>
        <p:nvSpPr>
          <p:cNvPr id="60" name="Text 58"/>
          <p:cNvSpPr/>
          <p:nvPr/>
        </p:nvSpPr>
        <p:spPr>
          <a:xfrm>
            <a:off x="274320" y="23774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</a:t>
            </a:r>
            <a:endParaRPr lang="en-US" sz="3800" dirty="0"/>
          </a:p>
        </p:txBody>
      </p:sp>
      <p:sp>
        <p:nvSpPr>
          <p:cNvPr id="61" name="Text 59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Project  ·  MovieLens 20M Dataset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Aburahmeh  |  Hala AlJafary</a:t>
            </a:r>
            <a:endParaRPr lang="en-US" sz="200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384048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0058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4320" y="1965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MovieLens 20M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74320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~20M ratings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4370832"/>
            <a:ext cx="192024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50592" y="822960"/>
            <a:ext cx="1920240" cy="384048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00584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50592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450592" y="1965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Neural CF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2450592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450592" y="4370832"/>
            <a:ext cx="192024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26864" y="822960"/>
            <a:ext cx="1920240" cy="384048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0058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26864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(RMSE)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626864" y="1965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0.2057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4626864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0.93 stars error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626864" y="4370832"/>
            <a:ext cx="192024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803136" y="822960"/>
            <a:ext cx="1920240" cy="3840480"/>
          </a:xfrm>
          <a:prstGeom prst="rect">
            <a:avLst/>
          </a:prstGeom>
          <a:solidFill>
            <a:srgbClr val="22222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100584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03136" y="1645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03136" y="1965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Personalized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6803136" y="2468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Picks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803136" y="4370832"/>
            <a:ext cx="1920240" cy="2926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 Data Prep  →  Model Design  →  Training  →  Evaluation</a:t>
            </a:r>
            <a:endParaRPr lang="en-US" sz="15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749040" cy="41148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1234440"/>
            <a:ext cx="1463040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73936" y="1234440"/>
            <a:ext cx="2231136" cy="438912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3444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01368" y="1234440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MovieLens 20M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" y="1737360"/>
            <a:ext cx="1463040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73936" y="1737360"/>
            <a:ext cx="2231136" cy="438912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373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01368" y="1737360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GroupLens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" y="2240280"/>
            <a:ext cx="1463040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73936" y="2240280"/>
            <a:ext cx="2231136" cy="438912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24028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01368" y="2240280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~20,000,000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92608" y="2743200"/>
            <a:ext cx="1463040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3936" y="2743200"/>
            <a:ext cx="2231136" cy="438912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74320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01368" y="2743200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movieId, timestamp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2608" y="3246120"/>
            <a:ext cx="1463040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3936" y="3246120"/>
            <a:ext cx="2231136" cy="438912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24612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01368" y="3246120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(0–1 normalized)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92608" y="3749040"/>
            <a:ext cx="1463040" cy="43891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73936" y="3749040"/>
            <a:ext cx="2231136" cy="438912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74904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801368" y="3749040"/>
            <a:ext cx="21762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97680" y="777240"/>
            <a:ext cx="4572000" cy="71323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0" y="777240"/>
            <a:ext cx="502920" cy="7132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77724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8138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46320" y="11247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most recent rating per user-movie pair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97680" y="1581912"/>
            <a:ext cx="4572000" cy="71323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97680" y="1581912"/>
            <a:ext cx="502920" cy="7132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158191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161848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Sparse Data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846320" y="192938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≥50 ratings, Movies ≥10 ratings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297680" y="2386584"/>
            <a:ext cx="4572000" cy="71323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97680" y="2386584"/>
            <a:ext cx="502920" cy="7132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0" y="238658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46320" y="242316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Ratings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846320" y="273405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0.5–5.0 → 0.0–1.0 (Min-Max)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297680" y="3191256"/>
            <a:ext cx="4572000" cy="71323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97680" y="3191256"/>
            <a:ext cx="502920" cy="7132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0" y="319125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846320" y="322783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IDs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846320" y="35387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user/movie IDs to sequential integers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297680" y="3995928"/>
            <a:ext cx="4572000" cy="713232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97680" y="3995928"/>
            <a:ext cx="502920" cy="71323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7680" y="399592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846320" y="40325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846320" y="43434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— no data leakage</a:t>
            </a:r>
            <a:endParaRPr lang="en-US" sz="1200" dirty="0"/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11480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31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Collaborative Filtering (NCF)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137160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984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47088"/>
            <a:ext cx="1371600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470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Embedding(32)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95728"/>
            <a:ext cx="137160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3957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74520" y="1298448"/>
            <a:ext cx="137160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12984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ID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74520" y="1847088"/>
            <a:ext cx="1371600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18470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Embedding(32)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74520" y="2395728"/>
            <a:ext cx="137160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23957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0120" y="1664208"/>
            <a:ext cx="0" cy="18288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2212848"/>
            <a:ext cx="0" cy="18288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1664208"/>
            <a:ext cx="0" cy="18288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60320" y="2212848"/>
            <a:ext cx="0" cy="18288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2944368"/>
            <a:ext cx="1600200" cy="365760"/>
          </a:xfrm>
          <a:prstGeom prst="rect">
            <a:avLst/>
          </a:prstGeom>
          <a:solidFill>
            <a:srgbClr val="444444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94436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Concatenate(64)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3493008"/>
            <a:ext cx="160020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49300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Dense(64) + ReLU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3858768"/>
            <a:ext cx="1600200" cy="274320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385876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Dropout(0.5)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4224528"/>
            <a:ext cx="1600200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224528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Dense(32) + ReLU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4400" y="4590288"/>
            <a:ext cx="1600200" cy="256032"/>
          </a:xfrm>
          <a:prstGeom prst="rect">
            <a:avLst/>
          </a:prstGeom>
          <a:solidFill>
            <a:srgbClr val="2A2A2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45902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Dropout(0.3)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24128" y="4846320"/>
            <a:ext cx="1371600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0" y="731520"/>
            <a:ext cx="5212080" cy="429768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7315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749040" y="1234440"/>
            <a:ext cx="1508760" cy="5486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1234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Size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49040" y="149047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13258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expressiveness vs generalization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749040" y="1892808"/>
            <a:ext cx="1508760" cy="5486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1892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(hidden)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49040" y="21488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03520" y="198424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gradients; paired with He Normal init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749040" y="2551176"/>
            <a:ext cx="1508760" cy="5486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49040" y="255117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(output)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749040" y="28072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03520" y="2642616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Constrains output to [0,1] range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749040" y="3209544"/>
            <a:ext cx="1508760" cy="5486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0" y="320954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Layers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749040" y="346557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→ 32 → 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03520" y="330098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compression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749040" y="3867912"/>
            <a:ext cx="1508760" cy="5486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0" y="38679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749040" y="412394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/ 0.3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303520" y="395935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memorization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3749040" y="4526280"/>
            <a:ext cx="1508760" cy="54864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49040" y="45262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749040" y="47823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1e-5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303520" y="4617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embedding weight growth</a:t>
            </a:r>
            <a:endParaRPr lang="en-US" sz="1400" dirty="0"/>
          </a:p>
        </p:txBody>
      </p:sp>
    </p:spTree>
  </p:cSld>
  <p:clrMapOvr>
    <a:masterClrMapping/>
  </p:clrMapOvr>
  <p:transition spd="med">
    <p:uncover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TRAINING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51760" cy="10058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508760"/>
            <a:ext cx="2651760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172968" y="822960"/>
            <a:ext cx="2651760" cy="10058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72968" y="1508760"/>
            <a:ext cx="2651760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868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72968" y="1143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0.0005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071616" y="822960"/>
            <a:ext cx="2651760" cy="10058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71616" y="1508760"/>
            <a:ext cx="2651760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71616" y="868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71616" y="1143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673352" y="1965960"/>
            <a:ext cx="2651760" cy="10058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73352" y="2651760"/>
            <a:ext cx="2651760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73352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73352" y="2286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2048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4572000" y="1965960"/>
            <a:ext cx="2651760" cy="100584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651760"/>
            <a:ext cx="2651760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2286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274320" y="2514600"/>
            <a:ext cx="8595360" cy="242316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5146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017520"/>
            <a:ext cx="201168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175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606040" y="3035808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val_loss · patience = 2 epochs · restores best weights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Avoids overfitting and saves training time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201168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8862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06040" y="3904488"/>
            <a:ext cx="6217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val_loss stalls for 1 epoch: LR × 0.2 · min LR = 1e-6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Helps escape flat loss regions</a:t>
            </a:r>
            <a:endParaRPr lang="en-US" sz="1300" dirty="0"/>
          </a:p>
        </p:txBody>
      </p:sp>
    </p:spTree>
  </p:cSld>
  <p:clrMapOvr>
    <a:masterClrMapping/>
  </p:clrMapOvr>
  <p:transition spd="slow">
    <p:circl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EVALUATION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201168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MSE (Loss)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C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0.0433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74320" y="20299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on test 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777240"/>
            <a:ext cx="4389120" cy="20116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822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RMSE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11887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0.2057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480560" y="20299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 on test set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859536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0.2057 RMSE mean?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0.2057 × 4.5 ≈ 0.93 stars  →  The model is off by less than 1 star on a 5-star scale on average. This is a competitive result for a deep learning recommender on MovieLens 20M.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4023360"/>
            <a:ext cx="8595360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69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Qualitative Check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 recommendations were compared to the user's actual highest-rated movies. Strong genre overlap confirmed the model successfully captured user taste patterns.</a:t>
            </a:r>
            <a:endParaRPr lang="en-US" sz="1300" dirty="0"/>
          </a:p>
        </p:txBody>
      </p:sp>
    </p:spTree>
  </p:cSld>
  <p:clrMapOvr>
    <a:masterClrMapping/>
  </p:clrMapOvr>
  <p:transition spd="slow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31520"/>
            <a:ext cx="146304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731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709928" y="731520"/>
            <a:ext cx="411480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09928" y="731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43016" y="731520"/>
            <a:ext cx="329184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43016" y="731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" y="1170432"/>
            <a:ext cx="146304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09928" y="1170432"/>
            <a:ext cx="411480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43016" y="1170432"/>
            <a:ext cx="329184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170432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73936" y="1170432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07024" y="1170432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data leakage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1709928"/>
            <a:ext cx="1463040" cy="50292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9928" y="1709928"/>
            <a:ext cx="4114800" cy="50292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43016" y="1709928"/>
            <a:ext cx="3291840" cy="50292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1709928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73936" y="170992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users ≥50, movies ≥10 ratings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07024" y="1709928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sparsity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" y="2249424"/>
            <a:ext cx="146304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09928" y="2249424"/>
            <a:ext cx="411480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43016" y="2249424"/>
            <a:ext cx="329184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2249424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773936" y="2249424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size = 32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07024" y="2249424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expressiveness &amp; generalization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28600" y="2788920"/>
            <a:ext cx="1463040" cy="50292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09928" y="2788920"/>
            <a:ext cx="4114800" cy="50292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43016" y="2788920"/>
            <a:ext cx="3291840" cy="50292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2788920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773936" y="2788920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0.5 / 0.3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07024" y="278892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overfitting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28600" y="3328416"/>
            <a:ext cx="146304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09928" y="3328416"/>
            <a:ext cx="411480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43016" y="3328416"/>
            <a:ext cx="329184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3328416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773936" y="3328416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patience = 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07024" y="3328416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wasted epochs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28600" y="3867912"/>
            <a:ext cx="1463040" cy="50292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09928" y="3867912"/>
            <a:ext cx="4114800" cy="50292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43016" y="3867912"/>
            <a:ext cx="3291840" cy="50292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" y="3867912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773936" y="3867912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907024" y="3867912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Escapes loss plateaus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28600" y="4407408"/>
            <a:ext cx="146304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09928" y="4407408"/>
            <a:ext cx="411480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43016" y="4407408"/>
            <a:ext cx="329184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" y="4407408"/>
            <a:ext cx="1335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773936" y="4407408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0.2057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907024" y="4407408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on large-scale data</a:t>
            </a:r>
            <a:endParaRPr lang="en-US" sz="1300" dirty="0"/>
          </a:p>
        </p:txBody>
      </p:sp>
    </p:spTree>
  </p:cSld>
  <p:clrMapOvr>
    <a:masterClrMapping/>
  </p:clrMapOvr>
  <p:transition spd="med">
    <p:comb dir="horz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959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6468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8977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1486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3995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46504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79013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11522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4031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76540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09049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1559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74068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6577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9086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1595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04104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36613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69122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1631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34140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66649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99159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31668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64177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96686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29195" y="123444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736592"/>
            <a:ext cx="914400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59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6468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8977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81486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13995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46504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79013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411522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4031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76540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09049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41559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74068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06577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39086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71595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04104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36613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69122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01631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34140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66649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99159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31668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64177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96686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29195" y="4860036"/>
            <a:ext cx="164592" cy="164592"/>
          </a:xfrm>
          <a:prstGeom prst="rect">
            <a:avLst/>
          </a:prstGeom>
          <a:solidFill>
            <a:srgbClr val="2D2D2D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1645920"/>
            <a:ext cx="9144000" cy="18745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171907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0" name="Text 58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 Aburahmeh  ·  Hala AlJafary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  |  Deep Learning  |  MovieLens 20M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200400" y="4114800"/>
            <a:ext cx="2743200" cy="50292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0" y="4114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0.2057  ·  ≈ 0.93 stars error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Recommendation System</dc:title>
  <dc:subject>PptxGenJS Presentation</dc:subject>
  <dc:creator>Aya Aburahmeh &amp; Hala AlJafary</dc:creator>
  <cp:lastModifiedBy>Aya Aburahmeh &amp; Hala AlJafary</cp:lastModifiedBy>
  <cp:revision>1</cp:revision>
  <dcterms:created xsi:type="dcterms:W3CDTF">2026-05-15T21:40:55Z</dcterms:created>
  <dcterms:modified xsi:type="dcterms:W3CDTF">2026-05-15T21:40:55Z</dcterms:modified>
</cp:coreProperties>
</file>